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2004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Segment 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3221 — Introduction to Data Science  |  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Cameroon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Fotsing Kuetche  |  Fall 2025  |  Group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926080" cy="256032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1307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surveyed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783080"/>
            <a:ext cx="2560320" cy="0"/>
          </a:xfrm>
          <a:prstGeom prst="line">
            <a:avLst/>
          </a:prstGeom>
          <a:noFill/>
          <a:ln w="12700">
            <a:solidFill>
              <a:srgbClr val="0D3B5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126480" y="18470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2350008"/>
            <a:ext cx="2560320" cy="0"/>
          </a:xfrm>
          <a:prstGeom prst="line">
            <a:avLst/>
          </a:prstGeom>
          <a:noFill/>
          <a:ln w="12700">
            <a:solidFill>
              <a:srgbClr val="0D3B5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26480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0" y="2441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2916936"/>
            <a:ext cx="2560320" cy="0"/>
          </a:xfrm>
          <a:prstGeom prst="line">
            <a:avLst/>
          </a:prstGeom>
          <a:noFill/>
          <a:ln w="12700">
            <a:solidFill>
              <a:srgbClr val="0D3B5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126480" y="2980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30083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 money? What are we predicting?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4114800" cy="100584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76272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762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679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users, 12 months, ethical methodology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114800" cy="100584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46704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46704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38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8496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 found, 9 key visualizations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0584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algorithms, cross-validation, comparison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176272"/>
            <a:ext cx="4114800" cy="100584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176272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762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267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679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model, feature importance, business impact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346704"/>
            <a:ext cx="4114800" cy="100584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346704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46704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438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8496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fairness,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 &amp;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in Cameroon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45389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Mobile Money &amp; Orange Money serve millions of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5623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922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billions XAF transacted annually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94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the unbanked population across all regions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6090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968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behavior enables better financial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0" cy="347472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92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Prediction Target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41732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41732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Activity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tx/month  •  Business/urban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42316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423160"/>
            <a:ext cx="9144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Activity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tx/month  •  Mixed profile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42900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429000"/>
            <a:ext cx="9144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Activity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tx/month  •  Casual/rural users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 Collection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515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0352" y="15087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Surveyed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64008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0515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33472" y="15087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60120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0515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36592" y="15087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Window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960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960120"/>
            <a:ext cx="64008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10515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39712" y="15087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248716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423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Purposive stratified sampling across 8 regions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7121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8072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recruited 12 diverse participants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25526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191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18-65, 10 professions, 3 zone types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63931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575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participation with signed consent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Safeguards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487168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423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forms signed by all participants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871216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072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IDs: USER_001 to USER_060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255264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191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names, phone numbers or PINs collected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639312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575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storage, restricted access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Cleaning &amp; EDA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 Found &amp; Resolved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5029200" cy="219456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amounts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(1.5%)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by tx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tx 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(1.0%)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imputation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(0.3%)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amounts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(0.2%)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 (5.8%)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Winsorized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435608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tx_per_month — activity frequency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1819656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1755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send_receive_ratio — directionality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2203704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21396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weekend_ratio — lifestyle signal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2587752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2523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days_since_last_tx — recency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2971800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2907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avg_monthly_amount — volume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3355848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tx_type_diversity — adoption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3739896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3675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total_fees_paid — revenue proxy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Cleaning &amp; EDA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Activity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users average 6.4 tx/month vs 1.1 for Low — a fundamental behavioral divide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0604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Dominance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users are 75% of High-activity segment despite being 60% of the sample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0604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&gt; Demographics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1600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frequency predicts segment better than age, income or education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Patterns Discovered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44728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Money &amp; Receive Money = 40% of all transactions (core P2P use case)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8130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ownership correlates with 2.8x higher activity (r = 0.61)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4728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Business-purpose users average 8.1 tx/month vs 2.1 for personal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130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transactions uniform (28-32%) across all segments — no weekend bias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 — 5 Algorithms Compared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Machine Learning Models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463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463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170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18105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1005840"/>
            <a:ext cx="146304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170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18105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1005840"/>
            <a:ext cx="1463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170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18105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86600" y="1005840"/>
            <a:ext cx="1463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170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18105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Distance-weighted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077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8036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4048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096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5212080" cy="3200400"/>
        </p:xfrm>
        <a:graphic>
          <a:graphicData uri="http://schemas.openxmlformats.org/drawingml/2006/table">
            <a:tbl>
              <a:tblPr/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±0.215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(majority)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1417320"/>
            <a:ext cx="3108960" cy="64008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CV mean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755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 — best generalization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167128"/>
            <a:ext cx="3108960" cy="64008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231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CV variance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2505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±0.079 — most stable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2916936"/>
            <a:ext cx="3108960" cy="64008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980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resistant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3255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of 200 trees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666744"/>
            <a:ext cx="3108960" cy="64008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4005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interpretability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Machine Learning Models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— Random Forest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Results &amp; Insights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(%)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tx_per_month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89888"/>
            <a:ext cx="2940367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7928" y="13898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total_fees_paid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956816"/>
            <a:ext cx="57607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1956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432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523744"/>
            <a:ext cx="300038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7598" y="25237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99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max_transaction_amount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90672"/>
            <a:ext cx="184023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1583" y="3090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(combined)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657600"/>
            <a:ext cx="9144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657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960120"/>
            <a:ext cx="2286000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15544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 (transaction frequency) predicts activity segments FAR better than demographic variables.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and education combined contribute less than 1% of model importance.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Results &amp; Insights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Loyalty Programs for High 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discounts &amp; cashback for users with ≥6 tx/month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10-15% churn reduction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Activation Campaigns for Low Users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waivers + tutorials for &lt;2 tx/month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Potential: 200-300% activity increase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4114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992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Business Account Conversion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high-ratio senders to merchant accounts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credit scoring from tx history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34640"/>
            <a:ext cx="41148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992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Rural Digital Inclusion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USSD &amp; agent banking in rural areas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urban-rural activity gap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Limitations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326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Ethics &amp; Conclusion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53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60-user sample limits generalizability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19656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amounts introduce recall bias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221992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579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time-series modeling of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624328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60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needs retraining on 500+ users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0" cy="347472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Commitments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41732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353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anonymization — USER_XXX IDs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81965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755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denial based on segment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2219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157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transparency &amp; opt-out rights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62432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NOT for profiling or pricing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841248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272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1272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500+ users  •  Real MNO transaction logs  •  Time-series forecasting  •  Deploy as REST API  •  Credit scoring model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828800" cy="118872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828800" cy="118872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gap: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 Low users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828800" cy="118872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tx_per_month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1234440"/>
            <a:ext cx="1828800" cy="1188720"/>
          </a:xfrm>
          <a:prstGeom prst="rect">
            <a:avLst/>
          </a:prstGeom>
          <a:solidFill>
            <a:srgbClr val="0D3B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2940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606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frequency is the dominant predictor of user activity — service providers can segment users accurately with minimal data collection, enabling targeted, privacy-respecting personalization.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3221  |  ICT University Cameroon  |  Dr. Fotsing Kuetche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Money Transaction Analysis</dc:title>
  <dc:subject>PptxGenJS Presentation</dc:subject>
  <dc:creator>ICT University — CSC 3221 Group Project</dc:creator>
  <cp:lastModifiedBy>ICT University — CSC 3221 Group Project</cp:lastModifiedBy>
  <cp:revision>1</cp:revision>
  <dcterms:created xsi:type="dcterms:W3CDTF">2026-03-14T09:59:27Z</dcterms:created>
  <dcterms:modified xsi:type="dcterms:W3CDTF">2026-03-14T09:59:27Z</dcterms:modified>
</cp:coreProperties>
</file>